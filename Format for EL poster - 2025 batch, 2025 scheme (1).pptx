
<file path=[Content_Types].xml><?xml version="1.0" encoding="utf-8"?>
<Types xmlns="http://schemas.openxmlformats.org/package/2006/content-types">
  <Default ContentType="application/xml" Extension="xml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21383625" cx="1511935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6735">
          <p15:clr>
            <a:srgbClr val="A4A3A4"/>
          </p15:clr>
        </p15:guide>
        <p15:guide id="2" pos="4762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735" orient="horz"/>
        <p:guide pos="476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584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096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/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75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014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878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957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749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98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924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01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66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087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505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7720867" y="1962856"/>
            <a:ext cx="7316458" cy="19230332"/>
          </a:xfrm>
          <a:prstGeom prst="roundRect">
            <a:avLst>
              <a:gd name="adj" fmla="val 2556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271" tIns="19130" rIns="38271" bIns="19130" anchor="ctr" anchorCtr="0">
            <a:noAutofit/>
          </a:bodyPr>
          <a:lstStyle/>
          <a:p>
            <a:pPr>
              <a:buClr>
                <a:schemeClr val="dk1"/>
              </a:buClr>
              <a:buSzPts val="2800"/>
            </a:pPr>
            <a:endParaRPr sz="1172">
              <a:solidFill>
                <a:schemeClr val="dk1"/>
              </a:solidFill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91439" y="41090"/>
            <a:ext cx="14935940" cy="179583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271" tIns="19130" rIns="38271" bIns="19130" anchor="ctr" anchorCtr="0">
            <a:noAutofit/>
          </a:bodyPr>
          <a:lstStyle/>
          <a:p>
            <a:pPr algn="ctr">
              <a:buClr>
                <a:schemeClr val="dk1"/>
              </a:buClr>
              <a:buSzPts val="4000"/>
            </a:pPr>
            <a:r>
              <a:rPr lang="en-IN" sz="2400" b="1" dirty="0">
                <a:solidFill>
                  <a:srgbClr val="00206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RV College of Engineering, Bengaluru – 560059.</a:t>
            </a:r>
          </a:p>
          <a:p>
            <a:pPr algn="ctr">
              <a:buClr>
                <a:schemeClr val="dk1"/>
              </a:buClr>
              <a:buSzPts val="4000"/>
            </a:pPr>
            <a:endParaRPr lang="en-IN" sz="3600" b="1" dirty="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algn="ctr">
              <a:buClr>
                <a:schemeClr val="dk1"/>
              </a:buClr>
              <a:buSzPts val="4000"/>
            </a:pPr>
            <a:endParaRPr lang="en-IN" sz="3600" b="1" dirty="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97057" y="694056"/>
            <a:ext cx="12120998" cy="407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990000"/>
              </a:buClr>
              <a:buSzPts val="6000"/>
            </a:pP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  <a:ea typeface="Tahoma" panose="020B0604030504040204"/>
                <a:cs typeface="Tahoma" panose="020B0604030504040204"/>
                <a:sym typeface="Trebuchet MS" panose="020B0603020202020204"/>
              </a:rPr>
              <a:t>Title: </a:t>
            </a:r>
            <a:endParaRPr sz="2512" b="1" dirty="0">
              <a:solidFill>
                <a:srgbClr val="52705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568116" y="1114989"/>
            <a:ext cx="12077139" cy="6541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00FF"/>
              </a:buClr>
              <a:buSzPts val="4400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Student Name 1 | Student Name 2 | Student Name 3 | Student Name 4 | Student Name 5</a:t>
            </a:r>
          </a:p>
          <a:p>
            <a:pPr algn="ctr">
              <a:buClr>
                <a:srgbClr val="0000FF"/>
              </a:buClr>
              <a:buSzPts val="4400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USN 1 | USN 2 | USN 3 | USN 4 | USN 5 </a:t>
            </a:r>
            <a:endParaRPr sz="2000" dirty="0">
              <a:solidFill>
                <a:srgbClr val="975329"/>
              </a:solidFill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7846751" y="14774675"/>
            <a:ext cx="7049317" cy="1084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noAutofit/>
          </a:bodyPr>
          <a:lstStyle/>
          <a:p>
            <a:pPr marL="143538" indent="-74427">
              <a:lnSpc>
                <a:spcPct val="110000"/>
              </a:lnSpc>
              <a:buClr>
                <a:schemeClr val="dk1"/>
              </a:buClr>
              <a:buSzPts val="2600"/>
            </a:pPr>
            <a:endParaRPr sz="1088">
              <a:solidFill>
                <a:srgbClr val="00330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-350871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350871" y="11322617"/>
            <a:ext cx="77085" cy="154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endParaRPr sz="753">
              <a:solidFill>
                <a:schemeClr val="dk1"/>
              </a:solidFill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0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0" y="1030991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0" y="1030991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7846751" y="16146261"/>
            <a:ext cx="5837217" cy="154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endParaRPr sz="753">
              <a:solidFill>
                <a:schemeClr val="accen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4210452" y="16241953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2600"/>
            </a:pPr>
            <a:endParaRPr sz="1088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9345927" y="6340480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2600"/>
            </a:pPr>
            <a:endParaRPr sz="1088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12057203" y="6353771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2600"/>
            </a:pPr>
            <a:endParaRPr sz="1088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0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0" y="294760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0" y="423147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191385" y="3828772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191385" y="454247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grpSp>
        <p:nvGrpSpPr>
          <p:cNvPr id="127" name="Google Shape;127;p1"/>
          <p:cNvGrpSpPr/>
          <p:nvPr/>
        </p:nvGrpSpPr>
        <p:grpSpPr>
          <a:xfrm>
            <a:off x="142752" y="1968997"/>
            <a:ext cx="7519803" cy="19230333"/>
            <a:chOff x="26374694" y="8524168"/>
            <a:chExt cx="17964396" cy="28277704"/>
          </a:xfrm>
        </p:grpSpPr>
        <p:grpSp>
          <p:nvGrpSpPr>
            <p:cNvPr id="128" name="Google Shape;128;p1"/>
            <p:cNvGrpSpPr/>
            <p:nvPr/>
          </p:nvGrpSpPr>
          <p:grpSpPr>
            <a:xfrm>
              <a:off x="26374694" y="8524168"/>
              <a:ext cx="17964396" cy="28277704"/>
              <a:chOff x="26287382" y="8000294"/>
              <a:chExt cx="17964396" cy="28277704"/>
            </a:xfrm>
          </p:grpSpPr>
          <p:sp>
            <p:nvSpPr>
              <p:cNvPr id="131" name="Google Shape;131;p1"/>
              <p:cNvSpPr/>
              <p:nvPr/>
            </p:nvSpPr>
            <p:spPr>
              <a:xfrm>
                <a:off x="26287382" y="8000294"/>
                <a:ext cx="17964396" cy="28277704"/>
              </a:xfrm>
              <a:prstGeom prst="roundRect">
                <a:avLst>
                  <a:gd name="adj" fmla="val 2556"/>
                </a:avLst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spcFirstLastPara="1" wrap="square" lIns="38271" tIns="19130" rIns="38271" bIns="19130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3600"/>
                </a:pPr>
                <a:endParaRPr lang="en-IN" sz="1507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>
                  <a:buClr>
                    <a:schemeClr val="dk1"/>
                  </a:buClr>
                  <a:buSzPts val="3600"/>
                </a:pPr>
                <a:r>
                  <a:rPr lang="en-IN" sz="1507"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             </a:t>
                </a:r>
                <a:endParaRPr sz="1507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9" name="Google Shape;149;p1"/>
              <p:cNvSpPr txBox="1"/>
              <p:nvPr/>
            </p:nvSpPr>
            <p:spPr>
              <a:xfrm>
                <a:off x="26784567" y="18102043"/>
                <a:ext cx="16741775" cy="2186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8271" tIns="19130" rIns="38271" bIns="19130" anchor="t" anchorCtr="0">
                <a:spAutoFit/>
              </a:bodyPr>
              <a:lstStyle/>
              <a:p>
                <a:pPr lvl="0" algn="just">
                  <a:buClr>
                    <a:schemeClr val="dk1"/>
                  </a:buClr>
                  <a:buSzPts val="4000"/>
                </a:pPr>
                <a:r>
                  <a:rPr lang="en-US" dirty="0">
                    <a:solidFill>
                      <a:schemeClr val="dk1"/>
                    </a:solidFill>
                    <a:latin typeface="Bookman Old Style" panose="02050604050505020204" pitchFamily="18" charset="0"/>
                  </a:rPr>
                  <a:t>[Clearly state the objective of your prototype. What goals does it aim to achieve?]</a:t>
                </a:r>
              </a:p>
              <a:p>
                <a:pPr lvl="0" algn="just">
                  <a:buClr>
                    <a:schemeClr val="dk1"/>
                  </a:buClr>
                  <a:buSzPts val="4000"/>
                </a:pPr>
                <a:endParaRPr lang="en-US" dirty="0">
                  <a:solidFill>
                    <a:schemeClr val="dk1"/>
                  </a:solidFill>
                  <a:latin typeface="Bookman Old Style" panose="02050604050505020204" pitchFamily="18" charset="0"/>
                  <a:sym typeface="Georgia" panose="02040502050405020303"/>
                </a:endParaRPr>
              </a:p>
              <a:p>
                <a:pPr lvl="0" algn="just">
                  <a:buClr>
                    <a:schemeClr val="dk1"/>
                  </a:buClr>
                  <a:buSzPts val="4000"/>
                </a:pPr>
                <a:endParaRPr lang="en-US" dirty="0">
                  <a:solidFill>
                    <a:schemeClr val="dk1"/>
                  </a:solidFill>
                  <a:latin typeface="Bookman Old Style" panose="02050604050505020204" pitchFamily="18" charset="0"/>
                  <a:sym typeface="Georgia" panose="02040502050405020303"/>
                </a:endParaRPr>
              </a:p>
              <a:p>
                <a:pPr lvl="0" algn="just">
                  <a:buClr>
                    <a:schemeClr val="dk1"/>
                  </a:buClr>
                  <a:buSzPts val="4000"/>
                </a:pPr>
                <a:endParaRPr lang="en-US" dirty="0">
                  <a:solidFill>
                    <a:schemeClr val="dk1"/>
                  </a:solidFill>
                  <a:latin typeface="Bookman Old Style" panose="02050604050505020204" pitchFamily="18" charset="0"/>
                  <a:sym typeface="Georgia" panose="02040502050405020303"/>
                </a:endParaRPr>
              </a:p>
            </p:txBody>
          </p:sp>
        </p:grpSp>
        <p:sp>
          <p:nvSpPr>
            <p:cNvPr id="150" name="Google Shape;150;p1"/>
            <p:cNvSpPr txBox="1"/>
            <p:nvPr/>
          </p:nvSpPr>
          <p:spPr>
            <a:xfrm>
              <a:off x="26650065" y="8801931"/>
              <a:ext cx="17344338" cy="494637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8271" tIns="19130" rIns="38271" bIns="19130" anchor="t" anchorCtr="0">
              <a:spAutoFit/>
            </a:bodyPr>
            <a:lstStyle/>
            <a:p>
              <a:pPr>
                <a:buClr>
                  <a:srgbClr val="002060"/>
                </a:buClr>
                <a:buSzPts val="4400"/>
              </a:pPr>
              <a:r>
                <a:rPr lang="en-IN" sz="1842" b="1" dirty="0">
                  <a:solidFill>
                    <a:srgbClr val="002060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  <a:sym typeface="Comic Sans MS" panose="030F0702030302020204"/>
                </a:rPr>
                <a:t>                           Introduction</a:t>
              </a:r>
              <a:endParaRPr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endParaRPr>
            </a:p>
          </p:txBody>
        </p:sp>
      </p:grpSp>
      <p:sp>
        <p:nvSpPr>
          <p:cNvPr id="161" name="Google Shape;161;p1"/>
          <p:cNvSpPr txBox="1"/>
          <p:nvPr/>
        </p:nvSpPr>
        <p:spPr>
          <a:xfrm>
            <a:off x="424665" y="16214823"/>
            <a:ext cx="6830161" cy="270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marL="239230" indent="-143538">
              <a:buClr>
                <a:schemeClr val="dk1"/>
              </a:buClr>
              <a:buSzPts val="3600"/>
            </a:pPr>
            <a:endParaRPr sz="1507">
              <a:solidFill>
                <a:schemeClr val="dk1"/>
              </a:solidFill>
            </a:endParaRPr>
          </a:p>
        </p:txBody>
      </p:sp>
      <p:sp>
        <p:nvSpPr>
          <p:cNvPr id="171" name="Google Shape;171;p1"/>
          <p:cNvSpPr txBox="1"/>
          <p:nvPr/>
        </p:nvSpPr>
        <p:spPr>
          <a:xfrm>
            <a:off x="213909" y="10920044"/>
            <a:ext cx="7397264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                         Methodology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72" name="Google Shape;172;p1"/>
          <p:cNvSpPr txBox="1"/>
          <p:nvPr/>
        </p:nvSpPr>
        <p:spPr>
          <a:xfrm>
            <a:off x="7801192" y="2145342"/>
            <a:ext cx="7097496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Tools used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73" name="Google Shape;173;p1"/>
          <p:cNvSpPr txBox="1"/>
          <p:nvPr/>
        </p:nvSpPr>
        <p:spPr>
          <a:xfrm>
            <a:off x="7783025" y="6694004"/>
            <a:ext cx="7097496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US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Results and Discussions</a:t>
            </a:r>
          </a:p>
        </p:txBody>
      </p:sp>
      <p:sp>
        <p:nvSpPr>
          <p:cNvPr id="174" name="Google Shape;174;p1"/>
          <p:cNvSpPr txBox="1"/>
          <p:nvPr/>
        </p:nvSpPr>
        <p:spPr>
          <a:xfrm>
            <a:off x="7822661" y="18347881"/>
            <a:ext cx="7097496" cy="346410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/>
            <a:r>
              <a:rPr lang="en-IN" sz="2000" b="1" i="0" dirty="0">
                <a:effectLst/>
                <a:latin typeface="Söhne"/>
              </a:rPr>
              <a:t>References</a:t>
            </a:r>
          </a:p>
        </p:txBody>
      </p:sp>
      <p:sp>
        <p:nvSpPr>
          <p:cNvPr id="179" name="Google Shape;179;p1"/>
          <p:cNvSpPr txBox="1"/>
          <p:nvPr/>
        </p:nvSpPr>
        <p:spPr>
          <a:xfrm>
            <a:off x="12921869" y="111045"/>
            <a:ext cx="2207895" cy="263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16" rIns="0" bIns="0" anchor="t" anchorCtr="0">
            <a:spAutoFit/>
          </a:bodyPr>
          <a:lstStyle/>
          <a:p>
            <a:pPr marL="5316"/>
            <a:r>
              <a:rPr lang="en-IN" sz="1674" i="1" dirty="0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Go, change the world</a:t>
            </a:r>
            <a:endParaRPr sz="1674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" name="Google Shape;150;p1">
            <a:extLst>
              <a:ext uri="{FF2B5EF4-FFF2-40B4-BE49-F238E27FC236}">
                <a16:creationId xmlns:a16="http://schemas.microsoft.com/office/drawing/2014/main" id="{96549883-8540-6668-D479-B7068ACA60DE}"/>
              </a:ext>
            </a:extLst>
          </p:cNvPr>
          <p:cNvSpPr txBox="1"/>
          <p:nvPr/>
        </p:nvSpPr>
        <p:spPr>
          <a:xfrm>
            <a:off x="299159" y="8428447"/>
            <a:ext cx="7260250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                         Objectives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3" name="Google Shape;149;p1">
            <a:extLst>
              <a:ext uri="{FF2B5EF4-FFF2-40B4-BE49-F238E27FC236}">
                <a16:creationId xmlns:a16="http://schemas.microsoft.com/office/drawing/2014/main" id="{D84E6594-496A-649E-D408-EC8C95C89896}"/>
              </a:ext>
            </a:extLst>
          </p:cNvPr>
          <p:cNvSpPr txBox="1"/>
          <p:nvPr/>
        </p:nvSpPr>
        <p:spPr>
          <a:xfrm>
            <a:off x="246806" y="2596470"/>
            <a:ext cx="7008020" cy="253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just">
              <a:buClr>
                <a:schemeClr val="dk1"/>
              </a:buClr>
              <a:buSzPts val="4000"/>
            </a:pPr>
            <a:r>
              <a:rPr lang="en-US" dirty="0">
                <a:solidFill>
                  <a:schemeClr val="dk1"/>
                </a:solidFill>
                <a:latin typeface="Bookman Old Style" panose="02050604050505020204" pitchFamily="18" charset="0"/>
              </a:rPr>
              <a:t>[Include a brief introduction to set the context for your prototype.]</a:t>
            </a: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/>
          </a:p>
        </p:txBody>
      </p:sp>
      <p:sp>
        <p:nvSpPr>
          <p:cNvPr id="4" name="Google Shape;150;p1">
            <a:extLst>
              <a:ext uri="{FF2B5EF4-FFF2-40B4-BE49-F238E27FC236}">
                <a16:creationId xmlns:a16="http://schemas.microsoft.com/office/drawing/2014/main" id="{6F6964B9-9CEB-4BB5-CA66-443F445C218E}"/>
              </a:ext>
            </a:extLst>
          </p:cNvPr>
          <p:cNvSpPr txBox="1"/>
          <p:nvPr/>
        </p:nvSpPr>
        <p:spPr>
          <a:xfrm>
            <a:off x="243629" y="5304852"/>
            <a:ext cx="7260250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                         Problem Definition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5" name="Google Shape;149;p1">
            <a:extLst>
              <a:ext uri="{FF2B5EF4-FFF2-40B4-BE49-F238E27FC236}">
                <a16:creationId xmlns:a16="http://schemas.microsoft.com/office/drawing/2014/main" id="{0AD56C33-8595-63E3-6908-627CBDAC131B}"/>
              </a:ext>
            </a:extLst>
          </p:cNvPr>
          <p:cNvSpPr txBox="1"/>
          <p:nvPr/>
        </p:nvSpPr>
        <p:spPr>
          <a:xfrm>
            <a:off x="408531" y="5759039"/>
            <a:ext cx="7008020" cy="253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lvl="0" algn="just">
              <a:buClr>
                <a:schemeClr val="dk1"/>
              </a:buClr>
              <a:buSzPts val="4000"/>
            </a:pPr>
            <a:r>
              <a:rPr lang="en-US" dirty="0">
                <a:solidFill>
                  <a:schemeClr val="dk1"/>
                </a:solidFill>
                <a:latin typeface="Bookman Old Style" panose="02050604050505020204" pitchFamily="18" charset="0"/>
              </a:rPr>
              <a:t>[Explain the problem your prototype addresses and its significance.]</a:t>
            </a: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latin typeface="Bookman Old Style" panose="02050604050505020204" pitchFamily="18" charset="0"/>
              <a:sym typeface="Georgia" panose="02040502050405020303"/>
            </a:endParaRPr>
          </a:p>
        </p:txBody>
      </p:sp>
      <p:sp>
        <p:nvSpPr>
          <p:cNvPr id="6" name="Google Shape;149;p1">
            <a:extLst>
              <a:ext uri="{FF2B5EF4-FFF2-40B4-BE49-F238E27FC236}">
                <a16:creationId xmlns:a16="http://schemas.microsoft.com/office/drawing/2014/main" id="{56905CA1-27BD-5110-F126-0953ACA80AB4}"/>
              </a:ext>
            </a:extLst>
          </p:cNvPr>
          <p:cNvSpPr txBox="1"/>
          <p:nvPr/>
        </p:nvSpPr>
        <p:spPr>
          <a:xfrm>
            <a:off x="335735" y="11383386"/>
            <a:ext cx="7008020" cy="973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lvl="0" algn="just">
              <a:buClr>
                <a:schemeClr val="dk1"/>
              </a:buClr>
              <a:buSzPts val="4000"/>
            </a:pPr>
            <a:r>
              <a:rPr lang="en-US" dirty="0">
                <a:solidFill>
                  <a:schemeClr val="dk1"/>
                </a:solidFill>
                <a:latin typeface="Bookman Old Style" panose="02050604050505020204" pitchFamily="18" charset="0"/>
                <a:ea typeface="Georgia" panose="02040502050405020303"/>
                <a:cs typeface="Georgia" panose="02040502050405020303"/>
                <a:sym typeface="Georgia" panose="02040502050405020303"/>
              </a:rPr>
              <a:t>[</a:t>
            </a:r>
            <a:r>
              <a:rPr lang="en-US" b="1" dirty="0">
                <a:solidFill>
                  <a:schemeClr val="dk1"/>
                </a:solidFill>
                <a:latin typeface="Bookman Old Style" panose="02050604050505020204" pitchFamily="18" charset="0"/>
                <a:ea typeface="Georgia" panose="02040502050405020303"/>
                <a:cs typeface="Georgia" panose="02040502050405020303"/>
                <a:sym typeface="Georgia" panose="02040502050405020303"/>
              </a:rPr>
              <a:t>Flowchart</a:t>
            </a:r>
            <a:r>
              <a:rPr lang="en-US" dirty="0">
                <a:solidFill>
                  <a:schemeClr val="dk1"/>
                </a:solidFill>
                <a:latin typeface="Bookman Old Style" panose="02050604050505020204" pitchFamily="18" charset="0"/>
                <a:ea typeface="Georgia" panose="02040502050405020303"/>
                <a:cs typeface="Georgia" panose="02040502050405020303"/>
                <a:sym typeface="Georgia" panose="02040502050405020303"/>
              </a:rPr>
              <a:t> to elaborate on the strategic steps involved on crafting and refining key features]</a:t>
            </a: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7" name="Google Shape;149;p1">
            <a:extLst>
              <a:ext uri="{FF2B5EF4-FFF2-40B4-BE49-F238E27FC236}">
                <a16:creationId xmlns:a16="http://schemas.microsoft.com/office/drawing/2014/main" id="{ECCC3B4A-9606-90BB-BB04-2AC50E455D9E}"/>
              </a:ext>
            </a:extLst>
          </p:cNvPr>
          <p:cNvSpPr txBox="1"/>
          <p:nvPr/>
        </p:nvSpPr>
        <p:spPr>
          <a:xfrm>
            <a:off x="7912137" y="2616364"/>
            <a:ext cx="7008020" cy="336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latin typeface="Bookman Old Style" panose="02050604050505020204" pitchFamily="18" charset="0"/>
              <a:sym typeface="Georgia" panose="02040502050405020303"/>
            </a:endParaRPr>
          </a:p>
        </p:txBody>
      </p:sp>
      <p:sp>
        <p:nvSpPr>
          <p:cNvPr id="10" name="Google Shape;149;p1">
            <a:extLst>
              <a:ext uri="{FF2B5EF4-FFF2-40B4-BE49-F238E27FC236}">
                <a16:creationId xmlns:a16="http://schemas.microsoft.com/office/drawing/2014/main" id="{F5BD3962-3D08-292D-5F38-37E5A5B1CC5C}"/>
              </a:ext>
            </a:extLst>
          </p:cNvPr>
          <p:cNvSpPr txBox="1"/>
          <p:nvPr/>
        </p:nvSpPr>
        <p:spPr>
          <a:xfrm>
            <a:off x="7662555" y="17889568"/>
            <a:ext cx="7190093" cy="234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sz="3200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sz="3200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sz="3200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pic>
        <p:nvPicPr>
          <p:cNvPr id="11" name="Picture 2" descr="May be an image of text that says &quot;R RASHTREEYA R SIKSHANA SAMITHI SAMAITHI V TRUST INSTITUTIONS&quot;">
            <a:extLst>
              <a:ext uri="{FF2B5EF4-FFF2-40B4-BE49-F238E27FC236}">
                <a16:creationId xmlns:a16="http://schemas.microsoft.com/office/drawing/2014/main" id="{7C2EFEC0-42F0-B598-C59C-701CF1C97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92" y="111045"/>
            <a:ext cx="1655508" cy="1655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92;p1">
            <a:extLst>
              <a:ext uri="{FF2B5EF4-FFF2-40B4-BE49-F238E27FC236}">
                <a16:creationId xmlns:a16="http://schemas.microsoft.com/office/drawing/2014/main" id="{C3C138E0-EC15-F332-8FAA-6F2D3C197756}"/>
              </a:ext>
            </a:extLst>
          </p:cNvPr>
          <p:cNvSpPr txBox="1"/>
          <p:nvPr/>
        </p:nvSpPr>
        <p:spPr>
          <a:xfrm>
            <a:off x="9899595" y="1405831"/>
            <a:ext cx="5143500" cy="407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990000"/>
              </a:buClr>
              <a:buSzPts val="6000"/>
            </a:pP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  <a:ea typeface="Tahoma" panose="020B0604030504040204"/>
                <a:cs typeface="Tahoma" panose="020B0604030504040204"/>
                <a:sym typeface="Trebuchet MS" panose="020B0603020202020204"/>
              </a:rPr>
              <a:t>Theme:</a:t>
            </a:r>
            <a:endParaRPr sz="2512" b="1" dirty="0">
              <a:solidFill>
                <a:srgbClr val="52705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13" name="Google Shape;173;p1">
            <a:extLst>
              <a:ext uri="{FF2B5EF4-FFF2-40B4-BE49-F238E27FC236}">
                <a16:creationId xmlns:a16="http://schemas.microsoft.com/office/drawing/2014/main" id="{4D62BE2B-B35B-D625-2122-05FD6EFD4E3C}"/>
              </a:ext>
            </a:extLst>
          </p:cNvPr>
          <p:cNvSpPr txBox="1"/>
          <p:nvPr/>
        </p:nvSpPr>
        <p:spPr>
          <a:xfrm>
            <a:off x="7798572" y="11753531"/>
            <a:ext cx="7097496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US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Conclusions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4" name="Google Shape;149;p1">
            <a:extLst>
              <a:ext uri="{FF2B5EF4-FFF2-40B4-BE49-F238E27FC236}">
                <a16:creationId xmlns:a16="http://schemas.microsoft.com/office/drawing/2014/main" id="{54A8FCE1-366B-E6EE-3D88-A2A7CAABDFD2}"/>
              </a:ext>
            </a:extLst>
          </p:cNvPr>
          <p:cNvSpPr txBox="1"/>
          <p:nvPr/>
        </p:nvSpPr>
        <p:spPr>
          <a:xfrm>
            <a:off x="7822661" y="14972782"/>
            <a:ext cx="7008020" cy="234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sz="3200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sz="3200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sz="3200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46" name="Google Shape;173;p1">
            <a:extLst>
              <a:ext uri="{FF2B5EF4-FFF2-40B4-BE49-F238E27FC236}">
                <a16:creationId xmlns:a16="http://schemas.microsoft.com/office/drawing/2014/main" id="{4D62BE2B-B35B-D625-2122-05FD6EFD4E3C}"/>
              </a:ext>
            </a:extLst>
          </p:cNvPr>
          <p:cNvSpPr txBox="1"/>
          <p:nvPr/>
        </p:nvSpPr>
        <p:spPr>
          <a:xfrm>
            <a:off x="7764725" y="15398463"/>
            <a:ext cx="7330911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US" sz="1842" b="1" dirty="0" smtClean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Outcome of the work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47" name="Google Shape;149;p1"/>
          <p:cNvSpPr txBox="1"/>
          <p:nvPr/>
        </p:nvSpPr>
        <p:spPr>
          <a:xfrm>
            <a:off x="7875086" y="16203457"/>
            <a:ext cx="7008020" cy="14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just">
              <a:buClr>
                <a:schemeClr val="dk1"/>
              </a:buClr>
              <a:buSzPts val="4000"/>
            </a:pPr>
            <a:r>
              <a:rPr lang="en-US" dirty="0">
                <a:solidFill>
                  <a:schemeClr val="dk1"/>
                </a:solidFill>
                <a:latin typeface="Bookman Old Style" panose="02050604050505020204" pitchFamily="18" charset="0"/>
              </a:rPr>
              <a:t>[Clearly state the </a:t>
            </a:r>
            <a:r>
              <a:rPr lang="en-US" dirty="0" smtClean="0">
                <a:solidFill>
                  <a:schemeClr val="dk1"/>
                </a:solidFill>
                <a:latin typeface="Bookman Old Style" panose="02050604050505020204" pitchFamily="18" charset="0"/>
              </a:rPr>
              <a:t>outcome - </a:t>
            </a:r>
            <a:r>
              <a:rPr lang="en-US" dirty="0">
                <a:solidFill>
                  <a:schemeClr val="dk1"/>
                </a:solidFill>
                <a:latin typeface="Bookman Old Style" panose="02050604050505020204" pitchFamily="18" charset="0"/>
                <a:sym typeface="Comic Sans MS" panose="030F0702030302020204"/>
              </a:rPr>
              <a:t>(Publication/Product Development/Patenting</a:t>
            </a:r>
            <a:r>
              <a:rPr lang="en-US" dirty="0">
                <a:solidFill>
                  <a:schemeClr val="dk1"/>
                </a:solidFill>
                <a:latin typeface="Bookman Old Style" panose="02050604050505020204" pitchFamily="18" charset="0"/>
                <a:sym typeface="Comic Sans MS" panose="030F0702030302020204"/>
              </a:rPr>
              <a:t>)</a:t>
            </a:r>
            <a:r>
              <a:rPr lang="en-US" dirty="0">
                <a:solidFill>
                  <a:schemeClr val="dk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smtClean="0">
                <a:solidFill>
                  <a:schemeClr val="dk1"/>
                </a:solidFill>
                <a:latin typeface="Bookman Old Style" panose="02050604050505020204" pitchFamily="18" charset="0"/>
              </a:rPr>
              <a:t>]</a:t>
            </a: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